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Afonteoculta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AUTÔNOMO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CRIAÇÃO DE CONTEÚDO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geramos carrosséis virais com inteligência artificial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sem aprovação humana em cada etapa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46680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Agentes · Oráculo Revisor · Nano Banana 2 · Visual Style Guide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0" y="457200"/>
            <a:ext cx="2011680" cy="2011680"/>
          </a:xfrm>
          <a:prstGeom prst="ellipse">
            <a:avLst/>
          </a:prstGeom>
          <a:solidFill>
            <a:srgbClr val="1A9B8C">
              <a:alpha val="18000"/>
            </a:srgbClr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371600"/>
            <a:ext cx="1463040" cy="1463040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Sistema de Agentes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de agentes que cria, revisa e publica conteúdo sem aprovação em cada etapa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560320" cy="256032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80160"/>
            <a:ext cx="2560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Forge · Humanizer · Copy Squad criam a narrativa completa com gatilhos psicológicos calibrados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280160"/>
            <a:ext cx="2560320" cy="2560320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280160"/>
            <a:ext cx="256032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A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8328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REVISÃO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23317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Oráculo Revisor avalia 5 critérios com pontuação 1-3 cada. Aprova, reescreve ou escala para humano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280160"/>
            <a:ext cx="2560320" cy="256032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280160"/>
            <a:ext cx="2560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7220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 → Nano Banana 2 → Design Compositor. Imagem + texto compostos automaticamente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4160520"/>
            <a:ext cx="7955280" cy="384048"/>
          </a:xfrm>
          <a:prstGeom prst="rect">
            <a:avLst/>
          </a:prstGeom>
          <a:solidFill>
            <a:srgbClr val="10101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605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carrosséis prontos para publicar, com score de qualidade documentado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Produção — Da ideia ao carrossel publicado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896112"/>
            <a:ext cx="141732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96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1088136"/>
            <a:ext cx="201168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212848" y="896112"/>
            <a:ext cx="141732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896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SQUAD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30168" y="1088136"/>
            <a:ext cx="201168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831336" y="896112"/>
            <a:ext cx="141732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1336" y="896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FORGE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48656" y="1088136"/>
            <a:ext cx="201168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5449824" y="896112"/>
            <a:ext cx="141732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896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HUMANIZER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8961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49340" y="1280160"/>
            <a:ext cx="0" cy="228600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5449824" y="1691640"/>
            <a:ext cx="141732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9824" y="1691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ORÁCULO REVISOR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12848" y="1691640"/>
            <a:ext cx="141732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2DC5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12848" y="1691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APROVADO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(score 12-15)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30168" y="1883664"/>
            <a:ext cx="1819656" cy="0"/>
          </a:xfrm>
          <a:prstGeom prst="line">
            <a:avLst/>
          </a:prstGeom>
          <a:noFill/>
          <a:ln w="19050">
            <a:solidFill>
              <a:srgbClr val="1A9B8C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3831336" y="2331720"/>
            <a:ext cx="141732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31336" y="2331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REESCRITA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(score 8-11, máx 2x)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39996" y="2075688"/>
            <a:ext cx="0" cy="256032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449824" y="2331720"/>
            <a:ext cx="141732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9824" y="2331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ESCALA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(score &lt;8, humano)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58484" y="2075688"/>
            <a:ext cx="0" cy="256032"/>
          </a:xfrm>
          <a:prstGeom prst="line">
            <a:avLst/>
          </a:prstGeom>
          <a:noFill/>
          <a:ln w="15240">
            <a:solidFill>
              <a:srgbClr val="FF6B6B"/>
            </a:solidFill>
            <a:prstDash val="solid"/>
            <a:tailEnd type="arrow"/>
          </a:ln>
        </p:spPr>
      </p:sp>
      <p:sp>
        <p:nvSpPr>
          <p:cNvPr id="30" name="Text 28"/>
          <p:cNvSpPr/>
          <p:nvPr/>
        </p:nvSpPr>
        <p:spPr>
          <a:xfrm>
            <a:off x="8229600" y="16916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A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21508" y="2075688"/>
            <a:ext cx="0" cy="1170432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548640" y="3246120"/>
            <a:ext cx="137160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2DC5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920240" y="3438144"/>
            <a:ext cx="137160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2057400" y="3246120"/>
            <a:ext cx="137160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E8C8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5740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29000" y="3438144"/>
            <a:ext cx="137160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3566160" y="3246120"/>
            <a:ext cx="137160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E8C8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BANANA 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37760" y="3438144"/>
            <a:ext cx="137160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5074920" y="3246120"/>
            <a:ext cx="137160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COMP.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46520" y="3438144"/>
            <a:ext cx="137160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6583680" y="3246120"/>
            <a:ext cx="1371600" cy="384048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NOÇÃO + DASH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229600" y="3246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E8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Agentes e suas Funções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2606040" cy="141732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960120"/>
            <a:ext cx="54864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51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 SQUAD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399032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os 10 slides com narrativa completa, arco emocional e 15 gatilhos psicológicos calibrados para o avatar.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1568" y="960120"/>
            <a:ext cx="2606040" cy="1417320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960120"/>
            <a:ext cx="54864" cy="141732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051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 FORGE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38728" y="1399032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3 variações de gancho (Paradoxo / Confronto Direto / Inversão de Crença) e seleciona o mais forte.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08776" y="960120"/>
            <a:ext cx="2606040" cy="141732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960120"/>
            <a:ext cx="54864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1051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HUMANIZER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45936" y="1399032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traços de IA: elimina travessões, linguagem distante e estruturas artificiais. Mantém voz conectiva.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2542032"/>
            <a:ext cx="2606040" cy="1417320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2542032"/>
            <a:ext cx="54864" cy="1417320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6334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ORÁCULO REVISOR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2980944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5 critérios com score 1-3 cada. Total 15pts. Aprova autônomo acima de 12. Sem aprovação humana.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01568" y="2542032"/>
            <a:ext cx="2606040" cy="141732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01568" y="2542032"/>
            <a:ext cx="54864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8728" y="26334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38728" y="2980944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o conceito de cada slide em prompt cinematográfico para o Nano Banana 2. Estética dark, minimalista.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08776" y="2542032"/>
            <a:ext cx="2606040" cy="1417320"/>
          </a:xfrm>
          <a:prstGeom prst="rect">
            <a:avLst/>
          </a:prstGeom>
          <a:solidFill>
            <a:srgbClr val="16162C"/>
          </a:solidFill>
          <a:ln w="19050">
            <a:solidFill>
              <a:srgbClr val="2DC5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08776" y="2542032"/>
            <a:ext cx="54864" cy="1417320"/>
          </a:xfrm>
          <a:prstGeom prst="rect">
            <a:avLst/>
          </a:prstGeom>
          <a:solidFill>
            <a:srgbClr val="2DC5B5"/>
          </a:solidFill>
          <a:ln w="12700">
            <a:solidFill>
              <a:srgbClr val="2DC5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26334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C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NANO BANANA 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45936" y="2980944"/>
            <a:ext cx="23774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Gemini gemini-2.0-flash-exp-image-generation. Gera imagem dark cinematográfica por slide.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Oráculo Revisor — Sistema de Avaliação Autônoma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94360" y="7772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critérios · Score 1-3 cada · Total 15 pts · Decisão automática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43000"/>
          <a:ext cx="79552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411480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Critério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O que avalia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Gancho Paradoxal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Provoca crença do seguidor com tensão real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1-3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Arco Emocional 10 slides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Validação → Confronto → Revelação → Esperança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1-3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Raiva Coletiva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Nomeia o sistema/instituição que sabotou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1-3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CTA Tribal "Comente FONTE se..."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Verbaliza experiência interna específica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1-3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Slide 10 três camadas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Cristalização + Ativação Tribal + Portal Sutil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1-3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310896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Decisão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3364992"/>
            <a:ext cx="2560320" cy="658368"/>
          </a:xfrm>
          <a:prstGeom prst="rect">
            <a:avLst/>
          </a:prstGeom>
          <a:solidFill>
            <a:srgbClr val="0D4F2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3649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12-15 pts →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para imagens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19272" y="3364992"/>
            <a:ext cx="2560320" cy="658368"/>
          </a:xfrm>
          <a:prstGeom prst="rect">
            <a:avLst/>
          </a:prstGeom>
          <a:solidFill>
            <a:srgbClr val="4F3A0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10712" y="33649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8-11 pts →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REESCRITA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para Copy Squad (máx 2x)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44184" y="3364992"/>
            <a:ext cx="2560320" cy="658368"/>
          </a:xfrm>
          <a:prstGeom prst="rect">
            <a:avLst/>
          </a:prstGeom>
          <a:solidFill>
            <a:srgbClr val="4F0D0D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35624" y="33649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&lt;8 pts →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humana obrigatória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Geração de Imagem — Do Conceito ao Visual Cinematográfico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3749040" cy="310896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914400"/>
            <a:ext cx="37490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241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34747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do slide + tema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Style Guide (DNA da marca)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Prefixo obrigatório: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"Dark cinematic mystical illustration, single focal point, minimalist..."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Sufixo: </a:t>
            </a:r>
            <a:pPr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text, no words, no letters visible..."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específico por slide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749040" cy="3108960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374904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241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Nano Banana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35204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gemini-2.0-flash-exp-image-generation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Generative Language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tentativas com backoff exponencial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1080x1350px (formato 4:5 Instagram)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Compositor (Python + Pillow)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133088"/>
            <a:ext cx="7955280" cy="475488"/>
          </a:xfrm>
          <a:prstGeom prst="rect">
            <a:avLst/>
          </a:prstGeom>
          <a:solidFill>
            <a:srgbClr val="10101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1330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imagem dark cinematográfica + texto com margens corretas (MARGIN=92px) + marca d'água dupla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Fórmula do Carrossel Viral — Lições de 1M+ visualizações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3886200" cy="150876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960120"/>
            <a:ext cx="3886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69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COLAGEM, NÃO IA PURA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slides mais impactantes combinam foto real P&amp;B + overlay geométrico colorido. Não imagem 100% gerada por 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5152" y="960120"/>
            <a:ext cx="3886200" cy="1508760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960120"/>
            <a:ext cx="38862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1069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COLISÃO DE DOIS MUNDOS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82312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gancho une duas verdades que o seguidor conhece mas nunca conectou. 'O que X chama de A, Y chama de B.'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633472"/>
            <a:ext cx="3886200" cy="150876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633472"/>
            <a:ext cx="3886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43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FRASE DEVASTADORA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13639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carrossel viral tem um slide curto e impactante — a linha que vai nos stories de outras pessoas.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5152" y="2633472"/>
            <a:ext cx="3886200" cy="1508760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2633472"/>
            <a:ext cx="38862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2743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 TEXT NO CORPO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82312" y="313639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Alternância de bold + italic dentro do parágrafo cria hierarquia de atenção e mantém o olho em movimento.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4370832"/>
            <a:ext cx="7955280" cy="292608"/>
          </a:xfrm>
          <a:prstGeom prst="rect">
            <a:avLst/>
          </a:prstGeom>
          <a:solidFill>
            <a:srgbClr val="10101E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3708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 compartilhamentos · 1M+ visualizações · Tema: O que a Bíblia chama de Verbo, a Física chama de Frequência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Narrativa — A Função de Cada Posição</a:t>
            </a:r>
            <a:endParaRPr lang="en-US" sz="1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896112"/>
          <a:ext cx="79552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920240"/>
                <a:gridCol w="553212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Pos.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Função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Por que funciona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Gancho Paradoxal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Colisão de dois mundos — o cérebro não categoriza rápido, para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Validação Silenciosa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"Foi escrito pra mim" — nomeia o que o seguidor sente mas não articula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 Que Te Ensinaram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Nomeia a mentira — ativa cortisol, tensão sem escape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Raiva Coletiva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Nomeia o culpado — direciona a raiva, gera identificação tribal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 Prova Científica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"Então não era loucura minha" — valida a intuição que já existia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 Mecanismo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Explica como funciona — sensação de acesso a algo oculto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 Ponte Sagrada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Une ciência + espiritualidade — reconciliação cognitiva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 Impacto Real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Sai do abstrato — o seguidor se vê na narrativa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 Aplicação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Transforma insight em comportamento — sensação de controle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Cristalização + CTA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Frase devastadora + "Comente FONTE se..." — alimenta o algoritmo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Temas Desenvolvidos — Prontos para Produção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914400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9692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Diabo e o Ego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2618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está possuído. Está programado.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682496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682496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7373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Placebo e a Mente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0299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remédio mais poderoso é a crença.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450592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450592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50545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Ansiedade e o Despertar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79806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está doente. Está acordando.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218688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218688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27355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Imagem e Semelhança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5661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foi criado para criar. Te ensinaram a pedir permissão.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3986784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986784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04164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Karma e a Epigenética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433425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não é dívida. É herança reescrevível.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914400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914400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9692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Emoção e o Campo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12618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passado está no seu corpo como frequência.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682496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1682496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17373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Intuição e os 11M bits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20299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trocou 11M bits por 50. E chamou de bom senso.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450592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2450592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12080" y="250545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Entrelaçamento e a Conexão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279806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separação não é real na física.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218688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3218688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12080" y="327355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TDAH e o Processamento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35661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Foram eles que precisavam de diagnóstico.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986784"/>
            <a:ext cx="3886200" cy="694944"/>
          </a:xfrm>
          <a:prstGeom prst="rect">
            <a:avLst/>
          </a:prstGeom>
          <a:solidFill>
            <a:srgbClr val="16162C"/>
          </a:solidFill>
          <a:ln w="9525">
            <a:solidFill>
              <a:srgbClr val="1E1E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986784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12080" y="404164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Vazio e a Memória de Unidade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12080" y="433425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vazio não é o que falta. É o que sobrou.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Carrosséis Produzidos — Score do Oráculo Revisor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914400"/>
          <a:ext cx="79552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371600"/>
                <a:gridCol w="3200400"/>
                <a:gridCol w="91440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Carrossel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Tema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Glândula Pineal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88AA"/>
                          </a:solidFill>
                        </a:rPr>
                        <a:t>Concluído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Oração = Reconfiguração Neural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88AA"/>
                          </a:solidFill>
                        </a:rPr>
                        <a:t>Concluído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Einstein + Campo Unificado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88AA"/>
                          </a:solidFill>
                        </a:rPr>
                        <a:t>Concluído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Identidade Vibracional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88AA"/>
                          </a:solidFill>
                        </a:rPr>
                        <a:t>Concluído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Memórias como Frequência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15/15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</a:rPr>
                        <a:t>✓ Aprovado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Cabala + Neurociência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14/15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C86A"/>
                          </a:solidFill>
                        </a:rPr>
                        <a:t>✓ Aprovado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Neville Goddard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15/15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</a:rPr>
                        <a:t>✓ Aprovado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AA"/>
                          </a:solidFill>
                        </a:rPr>
                        <a:t>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Memórias como Frequência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15/15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</a:rPr>
                        <a:t>✓ Aprovado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187952"/>
            <a:ext cx="7955280" cy="402336"/>
          </a:xfrm>
          <a:prstGeom prst="rect">
            <a:avLst/>
          </a:prstGeom>
          <a:solidFill>
            <a:srgbClr val="0D4F2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418795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carrosséis consecutivos com 15/15 — máxima qualidade autônoma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Infraestrutura Técnica por Trás do Sistema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2560320" cy="2926080"/>
          </a:xfrm>
          <a:prstGeom prst="rect">
            <a:avLst/>
          </a:prstGeom>
          <a:solidFill>
            <a:srgbClr val="16162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960120"/>
            <a:ext cx="2560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Pillow (composição)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(imagem)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compose_util.py (margens, fontes)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92px · Canvas: 1080x1350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960120"/>
            <a:ext cx="2560320" cy="2926080"/>
          </a:xfrm>
          <a:prstGeom prst="rect">
            <a:avLst/>
          </a:prstGeom>
          <a:solidFill>
            <a:srgbClr val="16162C"/>
          </a:solidFill>
          <a:ln w="19050">
            <a:solidFill>
              <a:srgbClr val="1A9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0712" y="960120"/>
            <a:ext cx="256032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47872" y="150876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(dashboard)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flat store (carousels.json)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de imagens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para CRUD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7064" y="960120"/>
            <a:ext cx="2560320" cy="2926080"/>
          </a:xfrm>
          <a:prstGeom prst="rect">
            <a:avLst/>
          </a:prstGeom>
          <a:solidFill>
            <a:srgbClr val="16162C"/>
          </a:solidFill>
          <a:ln w="19050">
            <a:solidFill>
              <a:srgbClr val="E8C8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27064" y="960120"/>
            <a:ext cx="2560320" cy="54864"/>
          </a:xfrm>
          <a:prstGeom prst="rect">
            <a:avLst/>
          </a:prstGeom>
          <a:solidFill>
            <a:srgbClr val="E8C86A"/>
          </a:solidFill>
          <a:ln w="12700">
            <a:solidFill>
              <a:srgbClr val="E8C8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64224" y="150876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(porta 3131)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por slide ou total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de texto por slide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Regeneração de imagem por slide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2743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 — Roadmap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7955280" cy="658368"/>
          </a:xfrm>
          <a:prstGeom prst="rect">
            <a:avLst/>
          </a:prstGeom>
          <a:solidFill>
            <a:srgbClr val="16162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069848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069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10149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7008" y="130759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os 10 novos carrosséis com estrutura de 10 slides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746504"/>
            <a:ext cx="7955280" cy="658368"/>
          </a:xfrm>
          <a:prstGeom prst="rect">
            <a:avLst/>
          </a:prstGeom>
          <a:solidFill>
            <a:srgbClr val="16162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856232"/>
            <a:ext cx="438912" cy="438912"/>
          </a:xfrm>
          <a:prstGeom prst="ellipse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07008" y="18013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209397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estilo de colagem fotográfica nos prompts de imagem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2532888"/>
            <a:ext cx="7955280" cy="658368"/>
          </a:xfrm>
          <a:prstGeom prst="rect">
            <a:avLst/>
          </a:prstGeom>
          <a:solidFill>
            <a:srgbClr val="16162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642616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642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7008" y="25877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07008" y="288036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por slide + edição de texto + regeneração de imagem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3319272"/>
            <a:ext cx="7955280" cy="658368"/>
          </a:xfrm>
          <a:prstGeom prst="rect">
            <a:avLst/>
          </a:prstGeom>
          <a:solidFill>
            <a:srgbClr val="16162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429000"/>
            <a:ext cx="438912" cy="438912"/>
          </a:xfrm>
          <a:prstGeom prst="ellipse">
            <a:avLst/>
          </a:prstGeom>
          <a:solidFill>
            <a:srgbClr val="1A9B8C"/>
          </a:solidFill>
          <a:ln w="12700">
            <a:solidFill>
              <a:srgbClr val="1A9B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07008" y="33741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7008" y="3666744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publicação no Instagram via API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4105656"/>
            <a:ext cx="7955280" cy="658368"/>
          </a:xfrm>
          <a:prstGeom prst="rect">
            <a:avLst/>
          </a:prstGeom>
          <a:solidFill>
            <a:srgbClr val="16162C"/>
          </a:solidFill>
          <a:ln w="12700">
            <a:solidFill>
              <a:srgbClr val="E8C8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215384"/>
            <a:ext cx="438912" cy="438912"/>
          </a:xfrm>
          <a:prstGeom prst="ellipse">
            <a:avLst/>
          </a:prstGeom>
          <a:solidFill>
            <a:srgbClr val="E8C86A"/>
          </a:solidFill>
          <a:ln w="12700">
            <a:solidFill>
              <a:srgbClr val="E8C8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215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07008" y="41605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07008" y="4453128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de métricas por carrossel (alcance, saves, compartilhamentos)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4462272"/>
            <a:ext cx="7955280" cy="347472"/>
          </a:xfrm>
          <a:prstGeom prst="rect">
            <a:avLst/>
          </a:prstGeom>
          <a:solidFill>
            <a:srgbClr val="10101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4622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sistema não substitui a criatividade humana. Ele a escala.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Autônomo de Criação de Conteúdo</dc:title>
  <dc:subject>PptxGenJS Presentation</dc:subject>
  <dc:creator>Afonteoculta</dc:creator>
  <cp:lastModifiedBy>Afonteoculta</cp:lastModifiedBy>
  <cp:revision>1</cp:revision>
  <dcterms:created xsi:type="dcterms:W3CDTF">2026-03-22T22:02:39Z</dcterms:created>
  <dcterms:modified xsi:type="dcterms:W3CDTF">2026-03-22T22:02:39Z</dcterms:modified>
</cp:coreProperties>
</file>